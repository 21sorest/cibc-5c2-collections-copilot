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5acc3a406f4041" /><Relationship Type="http://schemas.openxmlformats.org/officeDocument/2006/relationships/extended-properties" Target="/docProps/app.xml" Id="Rc96b7e479ee04935" /><Relationship Type="http://schemas.openxmlformats.org/officeDocument/2006/relationships/officeDocument" Target="/ppt/presentation.xml" Id="R000486174e0747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f284f33e414abf"/>
  </p:sldMasterIdLst>
  <p:notesMasterIdLst>
    <p:notesMasterId xmlns:r="http://schemas.openxmlformats.org/officeDocument/2006/relationships" r:id="Rf4cf1e1cb783430f"/>
  </p:notesMasterIdLst>
  <p:sldIdLst>
    <p:sldId xmlns:r="http://schemas.openxmlformats.org/officeDocument/2006/relationships" id="256" r:id="R375826a5f0d74a99"/>
    <p:sldId xmlns:r="http://schemas.openxmlformats.org/officeDocument/2006/relationships" id="257" r:id="Rd7dab50695a44ea3"/>
    <p:sldId xmlns:r="http://schemas.openxmlformats.org/officeDocument/2006/relationships" id="258" r:id="Rc46870e017464598"/>
    <p:sldId xmlns:r="http://schemas.openxmlformats.org/officeDocument/2006/relationships" id="259" r:id="R8bf4c8239f024594"/>
    <p:sldId xmlns:r="http://schemas.openxmlformats.org/officeDocument/2006/relationships" id="260" r:id="R1844d771931244e9"/>
    <p:sldId xmlns:r="http://schemas.openxmlformats.org/officeDocument/2006/relationships" id="261" r:id="R64f8b9f2219b49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21d1feb820406b" /><Relationship Type="http://schemas.openxmlformats.org/officeDocument/2006/relationships/slideMaster" Target="/ppt/slideMasters/slideMaster1.xml" Id="R6af284f33e414abf" /><Relationship Type="http://schemas.openxmlformats.org/officeDocument/2006/relationships/notesMaster" Target="/ppt/notesMasters/notesMaster1.xml" Id="Rf4cf1e1cb783430f" /><Relationship Type="http://schemas.openxmlformats.org/officeDocument/2006/relationships/presProps" Target="/ppt/presProps.xml" Id="Ra728636bf42947ef" /><Relationship Type="http://schemas.openxmlformats.org/officeDocument/2006/relationships/tableStyles" Target="/ppt/tableStyles.xml" Id="R5064280a85234222" /><Relationship Type="http://schemas.openxmlformats.org/officeDocument/2006/relationships/slide" Target="/ppt/slides/slide1.xml" Id="R375826a5f0d74a99" /><Relationship Type="http://schemas.openxmlformats.org/officeDocument/2006/relationships/slide" Target="/ppt/slides/slide2.xml" Id="Rd7dab50695a44ea3" /><Relationship Type="http://schemas.openxmlformats.org/officeDocument/2006/relationships/slide" Target="/ppt/slides/slide3.xml" Id="Rc46870e017464598" /><Relationship Type="http://schemas.openxmlformats.org/officeDocument/2006/relationships/slide" Target="/ppt/slides/slide4.xml" Id="R8bf4c8239f024594" /><Relationship Type="http://schemas.openxmlformats.org/officeDocument/2006/relationships/slide" Target="/ppt/slides/slide5.xml" Id="R1844d771931244e9" /><Relationship Type="http://schemas.openxmlformats.org/officeDocument/2006/relationships/slide" Target="/ppt/slides/slide6.xml" Id="R64f8b9f2219b49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45a001635946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ad0518db8443cf" /><Relationship Type="http://schemas.openxmlformats.org/officeDocument/2006/relationships/notesMaster" Target="/ppt/notesMasters/notesMaster1.xml" Id="R3ff6e3e0e5b743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e1164000444e02" /><Relationship Type="http://schemas.openxmlformats.org/officeDocument/2006/relationships/notesMaster" Target="/ppt/notesMasters/notesMaster1.xml" Id="Rc97fb3fccbeb48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cd08aaffe840d4" /><Relationship Type="http://schemas.openxmlformats.org/officeDocument/2006/relationships/notesMaster" Target="/ppt/notesMasters/notesMaster1.xml" Id="Rcc3c2f7bd89741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3cb7343c0342a2" /><Relationship Type="http://schemas.openxmlformats.org/officeDocument/2006/relationships/notesMaster" Target="/ppt/notesMasters/notesMaster1.xml" Id="R5099f0261d914f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165fb6666e4335" /><Relationship Type="http://schemas.openxmlformats.org/officeDocument/2006/relationships/notesMaster" Target="/ppt/notesMasters/notesMaster1.xml" Id="Rfd0ce0c3be244f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763ebd38494dd4" /><Relationship Type="http://schemas.openxmlformats.org/officeDocument/2006/relationships/notesMaster" Target="/ppt/notesMasters/notesMaster1.xml" Id="R07caeb8b11944c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 Agent Assist remains primary. Other workflows now include deeper contextual evidence and employee review. Sources: docs/deeper_use_cases.md; calls.py; decisions.py.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 Paid drafting has not been called. Whisper and base Qwen are pretrained. A team-trained LoRA adapts Qwen to a narrow factual task; no training from scratch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reports/classifier_evaluation.json; reports/speech_evaluation_small_en_2000.json; reports/local_llm_evaluation.json; reports/benchmark_dev_evaluation.json; reports/decision_safeguards.json; tmp/final_tests.log. Metrics describe supplied development samples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 These are discussion categories, not an official rubric or proposed point allocation. Organisers decide model eligibility, depth versus breadth and benchmark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01c68c1914c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52a8db5c64e4b" /><Relationship Type="http://schemas.openxmlformats.org/officeDocument/2006/relationships/slideLayout" Target="/ppt/slideLayouts/slideLayout1.xml" Id="R650fa536816847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0fa536816847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5afb1b3cc4b77" /><Relationship Type="http://schemas.openxmlformats.org/officeDocument/2006/relationships/notesSlide" Target="/ppt/notesSlides/notesSlide1.xml" Id="R5b330d39a10d42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0f4534914428c" /><Relationship Type="http://schemas.openxmlformats.org/officeDocument/2006/relationships/notesSlide" Target="/ppt/notesSlides/notesSlide2.xml" Id="R23093260c93c45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92febfce64fdc" /><Relationship Type="http://schemas.openxmlformats.org/officeDocument/2006/relationships/notesSlide" Target="/ppt/notesSlides/notesSlide3.xml" Id="R4fd07e15fd494f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b8dc1b709422f" /><Relationship Type="http://schemas.openxmlformats.org/officeDocument/2006/relationships/notesSlide" Target="/ppt/notesSlides/notesSlide4.xml" Id="Reacf7eaa7f9a46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249e05f734759" /><Relationship Type="http://schemas.openxmlformats.org/officeDocument/2006/relationships/notesSlide" Target="/ppt/notesSlides/notesSlide5.xml" Id="R80eb770be18044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391c8102c432b" /><Relationship Type="http://schemas.openxmlformats.org/officeDocument/2006/relationships/notesSlide" Target="/ppt/notesSlides/notesSlide6.xml" Id="R35c4188d605d49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7E4EE-D96E-4F87-BDC3-0FA2CD86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Collections Copilot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18B69-1D25-42F9-8B91-BC65C83E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Helping collections employees prepare a case and respond to customers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4384A-F14A-4C10-879D-CF9DCD2E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 unified customer view, relevant policy and suggested assistance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C4A83-D0C6-43C0-A03B-6D898CD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Team 5C2. Project overview for rubric discussion.</a:t>
            </a:r>
          </a:p>
        </p:txBody>
      </p:sp>
    </p:spTree>
    <p:extLst>
      <p:ext uri="{BB962C8B-B14F-4D97-AF65-F5344CB8AC3E}">
        <p14:creationId xmlns:p14="http://schemas.microsoft.com/office/powerpoint/2010/main" val="1674854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CB532-A573-49C8-8A30-4FE62C3A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Four connected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C623B-9321-4E7F-9611-ADB342F7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  Data foundation: match identities across five systems, validate records and build a customer C360 with explicit missingness.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4E442E-350F-457E-B210-04A74CA7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2  Questions: answer supported collections questions using trusted SQL, current policy or call evidence, with sources and refusals.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88D14-5C81-4E7F-B750-2C8D08C0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3  Features: serve 12 versioned case features with the same offline and online definitions, plus text signals.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304AB-B915-4D7F-BF62-54C7723E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4  Employee assistance: suggest a response or next step, explain its evidence and record accept, edit or reject decisions.</a:t>
            </a:r>
          </a:p>
        </p:txBody>
      </p:sp>
    </p:spTree>
    <p:extLst>
      <p:ext uri="{BB962C8B-B14F-4D97-AF65-F5344CB8AC3E}">
        <p14:creationId xmlns:p14="http://schemas.microsoft.com/office/powerpoint/2010/main" val="910208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32D87-D1DA-4911-A96C-408CAC9D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Six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ABBB5-B3D1-491B-BB67-859F8CDD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Agent Assist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333AA-C981-4C03-9A20-0F1A3649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Help during the conversation, including hardship, disputes and policy guidance.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83BBE-1B97-4274-8301-E956E3E2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Next Best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4D62A-0DCE-41B2-B9FA-B081C50E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Explain action reasons, alternatives and programme eligibility prerequisites.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FA408-5833-4682-AA2C-E78D65FB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Channel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ACA28-03F7-4585-916D-62E57627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Show outcome support, uncertainty, timing and unmet operational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9CB4A-0AF0-4512-A44F-27DCE5DB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668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Agent 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D5C4D-4978-454F-B8BC-8DAE38F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Match all required skills and language; explain capacity and roster exclusions.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1F7B2-0F2F-41D1-B07D-F91AEF36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Post-call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97A7B-BF47-4131-953B-D9477923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Separate proposed terms, explicit commitments and follow-ups with timestamps.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DF6F8-BD27-483B-859C-69808CD3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96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Quality assurance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7797F-AABC-41B7-A766-0E9E35E7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1492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Review context for ten checklist items and record employee evidence per item.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66111F-0BF3-424B-9FC7-90D5AD71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388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Local reviewed workflows. Treatment effectiveness and production readiness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4292627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1C600-1BCC-45DE-A882-10B9E090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AI and model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6089E-3E43-46CF-B39D-3E8ECF66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Team-trained model: a small text classifier trained on approved notes and customer transcript text to identify financial hardship.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B2529-5126-4A14-857A-931050A6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Local models: Whisper transcribes audio. A team-trained Qwen LoRA selects cited case facts. Both run locally without paid API calls.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2E163-6664-468F-844F-3B9DCA81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Optional paid API: an adapter is implemented, but needs user credentials and cost approval. It remains untested.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509D0-5B6C-4EDE-A51A-72CC843F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Controls: deterministic contact gates and employee review remain in place for every model approach.</a:t>
            </a:r>
          </a:p>
        </p:txBody>
      </p:sp>
    </p:spTree>
    <p:extLst>
      <p:ext uri="{BB962C8B-B14F-4D97-AF65-F5344CB8AC3E}">
        <p14:creationId xmlns:p14="http://schemas.microsoft.com/office/powerpoint/2010/main" val="422366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41C4D9-CE00-4693-BFBB-288019F9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Current development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41F7B-6243-463F-916D-7F823044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114 automated checks pass. The proposal safeguard audit checks 719 approved cases with 0 failures of tested constraints.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D1A20-1B07-4CC2-A62F-5DE7E5A6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All 12 numeric development benchmarks and 24 source-grounded policy/scope checks pass. Broad semantic accuracy remains unmeasured.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696BC-1744-481E-8D91-7872388D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Hardship, 181 development examples: classifier 98.6% precision/recall. Live combination: 94.7% precision, 100% recall.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C4A34D-9337-472E-A212-F3B3B76E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Whisper small.en: 11.02% word error rate on 1803 approved synthetic recordings. Speaker review remains required.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413CE-B89C-49EB-A896-5F7D12FA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LoRA: 1529 training examples. 468 final factual-format outputs, 100.0% complete exact-value results. Narrow synthetic task only.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735DF-3AC9-44B3-9DFA-8D05DB60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Hidden-test results and preparation-time savings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886016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708C8-64C6-47EE-92A7-E23355EE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Possible grading dimensions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C0925-1BF0-4B5B-94EB-FEC99654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Data correctness: matching quality, financial totals, quarantine, coverage and a reproducible C360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B72DC-23BD-4D06-A475-2C583DEF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Question accuracy: benchmark tolerance, usable SQL or source evidence, policy applicability and correct refusals.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34D4B-F23E-4CA3-BA73-73D022B0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Model quality: separate training and evaluation, precision/recall, transcription error and factual draft 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CA7F8-7B1C-4E3B-90A5-F209AFD2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Workflow quality: depth of the chosen use case, usability, response time and useful explanations.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B529F-2590-4BA0-9F96-B612D635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Safeguards and reproducibility: consent, holds, privacy, employee control, executable code and honest limitations.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F11CC-44B7-4A8E-999E-9AF34BBD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Organiser decisions: paid APIs, pretrained models, use-case breadth and scoring weights.</a:t>
            </a:r>
          </a:p>
        </p:txBody>
      </p:sp>
    </p:spTree>
    <p:extLst>
      <p:ext uri="{BB962C8B-B14F-4D97-AF65-F5344CB8AC3E}">
        <p14:creationId xmlns:p14="http://schemas.microsoft.com/office/powerpoint/2010/main" val="7399528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2026-10-04T11:20:28.1300000Z</dcterms:created>
  <dcterms:modified xsi:type="dcterms:W3CDTF">2026-10-04T11:20:28.1300000Z</dcterms:modified>
</coreProperties>
</file>