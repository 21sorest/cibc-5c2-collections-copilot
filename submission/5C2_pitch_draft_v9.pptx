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8332f3c5934b88" /><Relationship Type="http://schemas.openxmlformats.org/officeDocument/2006/relationships/extended-properties" Target="/docProps/app.xml" Id="R1954945c98b74b20" /><Relationship Type="http://schemas.openxmlformats.org/officeDocument/2006/relationships/officeDocument" Target="/ppt/presentation.xml" Id="R3fab825fba4945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054af35774c91"/>
  </p:sldMasterIdLst>
  <p:notesMasterIdLst>
    <p:notesMasterId xmlns:r="http://schemas.openxmlformats.org/officeDocument/2006/relationships" r:id="Rc845b6d076244b5f"/>
  </p:notesMasterIdLst>
  <p:sldIdLst>
    <p:sldId xmlns:r="http://schemas.openxmlformats.org/officeDocument/2006/relationships" id="256" r:id="R4809bfe9ba434d00"/>
    <p:sldId xmlns:r="http://schemas.openxmlformats.org/officeDocument/2006/relationships" id="257" r:id="R5a3a019d1e6f4295"/>
    <p:sldId xmlns:r="http://schemas.openxmlformats.org/officeDocument/2006/relationships" id="258" r:id="Rf88acd0c81b6400a"/>
    <p:sldId xmlns:r="http://schemas.openxmlformats.org/officeDocument/2006/relationships" id="259" r:id="R1026f4a0fbc54fe4"/>
    <p:sldId xmlns:r="http://schemas.openxmlformats.org/officeDocument/2006/relationships" id="260" r:id="R8b511b5773b04fe0"/>
    <p:sldId xmlns:r="http://schemas.openxmlformats.org/officeDocument/2006/relationships" id="261" r:id="R5ef7f6e1077540a5"/>
    <p:sldId xmlns:r="http://schemas.openxmlformats.org/officeDocument/2006/relationships" id="262" r:id="R859e677d02164e72"/>
    <p:sldId xmlns:r="http://schemas.openxmlformats.org/officeDocument/2006/relationships" id="263" r:id="Reb67e3d9fd9f4b2f"/>
    <p:sldId xmlns:r="http://schemas.openxmlformats.org/officeDocument/2006/relationships" id="264" r:id="R80f541dd066d41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991a6ea10e435d" /><Relationship Type="http://schemas.openxmlformats.org/officeDocument/2006/relationships/slideMaster" Target="/ppt/slideMasters/slideMaster1.xml" Id="R75b054af35774c91" /><Relationship Type="http://schemas.openxmlformats.org/officeDocument/2006/relationships/notesMaster" Target="/ppt/notesMasters/notesMaster1.xml" Id="Rc845b6d076244b5f" /><Relationship Type="http://schemas.openxmlformats.org/officeDocument/2006/relationships/presProps" Target="/ppt/presProps.xml" Id="Raa6e6d6e6964469e" /><Relationship Type="http://schemas.openxmlformats.org/officeDocument/2006/relationships/tableStyles" Target="/ppt/tableStyles.xml" Id="R5c7b871a1b034143" /><Relationship Type="http://schemas.openxmlformats.org/officeDocument/2006/relationships/slide" Target="/ppt/slides/slide1.xml" Id="R4809bfe9ba434d00" /><Relationship Type="http://schemas.openxmlformats.org/officeDocument/2006/relationships/slide" Target="/ppt/slides/slide2.xml" Id="R5a3a019d1e6f4295" /><Relationship Type="http://schemas.openxmlformats.org/officeDocument/2006/relationships/slide" Target="/ppt/slides/slide3.xml" Id="Rf88acd0c81b6400a" /><Relationship Type="http://schemas.openxmlformats.org/officeDocument/2006/relationships/slide" Target="/ppt/slides/slide4.xml" Id="R1026f4a0fbc54fe4" /><Relationship Type="http://schemas.openxmlformats.org/officeDocument/2006/relationships/slide" Target="/ppt/slides/slide5.xml" Id="R8b511b5773b04fe0" /><Relationship Type="http://schemas.openxmlformats.org/officeDocument/2006/relationships/slide" Target="/ppt/slides/slide6.xml" Id="R5ef7f6e1077540a5" /><Relationship Type="http://schemas.openxmlformats.org/officeDocument/2006/relationships/slide" Target="/ppt/slides/slide7.xml" Id="R859e677d02164e72" /><Relationship Type="http://schemas.openxmlformats.org/officeDocument/2006/relationships/slide" Target="/ppt/slides/slide8.xml" Id="Reb67e3d9fd9f4b2f" /><Relationship Type="http://schemas.openxmlformats.org/officeDocument/2006/relationships/slide" Target="/ppt/slides/slide9.xml" Id="R80f541dd066d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13fc28181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267e6b5fc14613" /><Relationship Type="http://schemas.openxmlformats.org/officeDocument/2006/relationships/notesMaster" Target="/ppt/notesMasters/notesMaster1.xml" Id="R86e6d5e7dbd648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a140e7393d4e49" /><Relationship Type="http://schemas.openxmlformats.org/officeDocument/2006/relationships/notesMaster" Target="/ppt/notesMasters/notesMaster1.xml" Id="Ra8e675f1134047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8f9fa21a2a4e00" /><Relationship Type="http://schemas.openxmlformats.org/officeDocument/2006/relationships/notesMaster" Target="/ppt/notesMasters/notesMaster1.xml" Id="Rb86ba98f6d234f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7b03a55fe14b04" /><Relationship Type="http://schemas.openxmlformats.org/officeDocument/2006/relationships/notesMaster" Target="/ppt/notesMasters/notesMaster1.xml" Id="Rdb4485a20e734f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ea202c4964211" /><Relationship Type="http://schemas.openxmlformats.org/officeDocument/2006/relationships/notesMaster" Target="/ppt/notesMasters/notesMaster1.xml" Id="R99a642d3edb6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15405a1a784b09" /><Relationship Type="http://schemas.openxmlformats.org/officeDocument/2006/relationships/notesMaster" Target="/ppt/notesMasters/notesMaster1.xml" Id="R0b0a0cc012e9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6741ab9f964079" /><Relationship Type="http://schemas.openxmlformats.org/officeDocument/2006/relationships/notesMaster" Target="/ppt/notesMasters/notesMaster1.xml" Id="R98a1f19e7d284b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083e430fb94cd5" /><Relationship Type="http://schemas.openxmlformats.org/officeDocument/2006/relationships/notesMaster" Target="/ppt/notesMasters/notesMaster1.xml" Id="R2ce0cd3f948c40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7a5f3800d248a1" /><Relationship Type="http://schemas.openxmlformats.org/officeDocument/2006/relationships/notesMaster" Target="/ppt/notesMasters/notesMaster1.xml" Id="R02df9f50adca4f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5C2. All dataset facts refer to the fully synthetic Maple Bank release dated 2026-09-28. Sources: Build Phase/CIBC Hackathon Build Phase - Instructions.pdf; README.md. Draft for team review before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framing from System Design Phase/5C2_SystemDesign.pdf. Preparation-time improvement is an intended measurement, not a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results: reports/quality_summary.json, reports/data_quality.md, reports/features_summary.json, reports/c360_export.json. Contract: contracts/c360.json. Counts describe accepted coverage, not all raw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modules: pipeline.py, sql/foundation.sql, questions.py, features.py, sql/features.sql, conversation.py, decisions.py, calls.py, assistant.py. Architecture PNG is available separately in docs/architecture.png.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flow implemented in app.py and conversation.py. This is an illustrative input used in UI validation, not a quote from a real customer. Policy evidence comes from synthetic POL-COLL-004 v4.2 and POL-COLL-001 v3.0.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reports/classifier_evaluation.json. CPU word/bigram naive Bayes, customer/text/token-connected development split. Excludes 25 protected-content-labeled examples and 116 unapproved sources. Rules were previously assessed on public labels, so this is not a blind comparison. Rare-class models performed worse and do not replace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reports/llm_training.json; reports/llm_adapter_dev.json; reports/llm_adapter_test.json; reports/llm_base_dev.json. Deterministic factual-format supervision of an existing pretrained model, not training from scratch or proof of conversational intelligence. Exact values are validated before application-rendered sentences.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decisions.py, calls.py, reports/qa_evaluation.json. All are prototype proposals or evidence triage, not production optimization or automated compliance judgments. This covers the six Layer 4 choices in System Design Phase/CIBC Collections Hackathon Problem Statement-3.pdf.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unit tests, reports/benchmark_dev_evaluation.json, reports/speech_evaluation_small_en_2000.json, reports/local_llm_evaluation.json. No paid API requests were made. Local Qwen is pretrained, separate from the team-trained classifier. No hidden benchmark, semantic summary accuracy or business-time improvement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86bd0ce5f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9898c8afb14ca9" /><Relationship Type="http://schemas.openxmlformats.org/officeDocument/2006/relationships/slideLayout" Target="/ppt/slideLayouts/slideLayout1.xml" Id="R1e392868c73b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92868c73b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ef788b7f1486d" /><Relationship Type="http://schemas.openxmlformats.org/officeDocument/2006/relationships/notesSlide" Target="/ppt/notesSlides/notesSlide1.xml" Id="R34759a1df4ae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7e9042c6648ba" /><Relationship Type="http://schemas.openxmlformats.org/officeDocument/2006/relationships/notesSlide" Target="/ppt/notesSlides/notesSlide2.xml" Id="Rf97c4bc6099e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4e0f711f746cf" /><Relationship Type="http://schemas.openxmlformats.org/officeDocument/2006/relationships/notesSlide" Target="/ppt/notesSlides/notesSlide3.xml" Id="R8f5986acd74543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5c87c6ac42e9" /><Relationship Type="http://schemas.openxmlformats.org/officeDocument/2006/relationships/notesSlide" Target="/ppt/notesSlides/notesSlide4.xml" Id="Rc32200dbe3e949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454819e4f44c7" /><Relationship Type="http://schemas.openxmlformats.org/officeDocument/2006/relationships/notesSlide" Target="/ppt/notesSlides/notesSlide5.xml" Id="R6c410dcb08e149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529b781b24b02" /><Relationship Type="http://schemas.openxmlformats.org/officeDocument/2006/relationships/chart" Target="/ppt/slides/charts/chart1.xml" Id="R98d710eb4c9f42f5" /><Relationship Type="http://schemas.openxmlformats.org/officeDocument/2006/relationships/notesSlide" Target="/ppt/notesSlides/notesSlide6.xml" Id="R85e2fcd19fca47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176040f1c4044" /><Relationship Type="http://schemas.openxmlformats.org/officeDocument/2006/relationships/notesSlide" Target="/ppt/notesSlides/notesSlide7.xml" Id="R20e0620481dc43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3b4a34224832" /><Relationship Type="http://schemas.openxmlformats.org/officeDocument/2006/relationships/notesSlide" Target="/ppt/notesSlides/notesSlide8.xml" Id="R70f3c02950b242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d1acceb4845ed" /><Relationship Type="http://schemas.openxmlformats.org/officeDocument/2006/relationships/notesSlide" Target="/ppt/notesSlides/notesSlide9.xml" Id="R18d8b5a4476f49a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Trained classifier</c:v>
          </c:tx>
          <c:spPr>
            <a:solidFill xmlns:a="http://schemas.openxmlformats.org/drawingml/2006/main">
              <a:srgbClr val="8C183A"/>
            </a:solidFill>
          </c:spPr>
          <c:cat>
            <c:strRef>
              <c:f>'Chart Data'!$A$2:$A$3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98.6</c:v>
                </c:pt>
                <c:pt idx="1">
                  <c:v>98.6</c:v>
                </c:pt>
              </c:numCache>
            </c:numRef>
          </c:val>
        </c:ser>
        <c:ser>
          <c:idx val="1"/>
          <c:order val="1"/>
          <c:tx>
            <c:v>Existing rules</c:v>
          </c:tx>
          <c:spPr>
            <a:solidFill xmlns:a="http://schemas.openxmlformats.org/drawingml/2006/main">
              <a:srgbClr val="287B82"/>
            </a:solidFill>
          </c:spPr>
          <c:cat>
            <c:strRef>
              <c:f>'Chart Data'!$C$2:$C$3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95.7</c:v>
                </c:pt>
                <c:pt idx="1">
                  <c:v>93.1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4245-418D-4D28-823B-E3E9F4F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Collections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2C649-C59F-4505-9255-ABDD4A9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Evidence-backed assistance for collections employees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FA93-2177-458F-80CC-79C45A10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Team 5C2 | CIBC Hackathon Build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C4E9D-FBCB-47A1-9CD1-B3B5D945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Local classifier and language generation | Employee review</a:t>
            </a:r>
          </a:p>
        </p:txBody>
      </p:sp>
    </p:spTree>
    <p:extLst>
      <p:ext uri="{BB962C8B-B14F-4D97-AF65-F5344CB8AC3E}">
        <p14:creationId xmlns:p14="http://schemas.microsoft.com/office/powerpoint/2010/main" val="1532727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3012D-8E06-48E2-A971-547CD37D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The employee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FD63C-2292-4BCF-B226-91F5B856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Find a trustworthy customer view across five source systems before discussing the 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A6316-1360-4F7D-97D4-22E341F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Identify financial hardship and disputes during the conversation, then retrieve the applicable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9D21B-DCA9-4EC5-BD9E-BCFB80AF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Review a suggested response, record the employee decision, and preserve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16FA4-FCBD-4846-A1D8-E0944BA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Measure preparation time against manual lookup. The original 30% improvement target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95570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9247C-CC09-4EBD-96AB-31AA94A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Data foundation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2A3A1-EB49-4D3D-AFBB-56C2117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1,011,944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E9F0E-DC4B-4F01-992E-9920B308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accepted golden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FCB57-E05E-4974-8891-C9FF2DF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1,142,071 matched accounts | 338,295 served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67BD4-7EFB-4722-9060-055A4504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13 foundation checks cover keys, customer ownership, transcript links, amounts and contract schema. Contradictory records are quarantined.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B4B1-A87B-41E1-9BD0-CFA4B009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C360 export: 8.3 MB Parquet, with checksum and explicit coverage.</a:t>
            </a:r>
          </a:p>
        </p:txBody>
      </p:sp>
    </p:spTree>
    <p:extLst>
      <p:ext uri="{BB962C8B-B14F-4D97-AF65-F5344CB8AC3E}">
        <p14:creationId xmlns:p14="http://schemas.microsoft.com/office/powerpoint/2010/main" val="1269662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02F22-B40C-47B2-8090-0AED212F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Four connected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9045E-B1F3-409D-9C40-C4B15B1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  Data product: raw sources, validated identities, curated records and golden C360.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CFEDA-AD7C-42F1-BDAE-5D736271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  Insight: supported questions run trusted SQL or retrieve current policy sources; unsupported requests are refused.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552FA-A0FA-402C-A2A1-5974EFCC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3  Features: 12 versioned case features, shared text extraction and the same classifier tokenizer for training and inference.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B4758-8190-4739-856B-40E58F0A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4  Assistance: conversation help and decision proposals, followed by employee accept, edit or reject.</a:t>
            </a:r>
          </a:p>
        </p:txBody>
      </p:sp>
    </p:spTree>
    <p:extLst>
      <p:ext uri="{BB962C8B-B14F-4D97-AF65-F5344CB8AC3E}">
        <p14:creationId xmlns:p14="http://schemas.microsoft.com/office/powerpoint/2010/main" val="1000866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04BD3-9D02-41CC-8A0C-0B846A80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Assistance during a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F4615-F7EA-47F1-8B64-C412BBD9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Illustrative customer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238CD-C7BF-4AB1-AF70-C59E3D00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“I lost my job and cannot afford this payment.”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174A3-3F4C-40E5-B023-1B4C6397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Acknowledge the hardship. Review support options and affordability before requesting a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10023-8F63-4BCB-998B-96ABB29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Identity verification precedes disclosure. Policy sources and detected signals accompany the draft. Employee review records no automatic action.</a:t>
            </a:r>
          </a:p>
        </p:txBody>
      </p:sp>
    </p:spTree>
    <p:extLst>
      <p:ext uri="{BB962C8B-B14F-4D97-AF65-F5344CB8AC3E}">
        <p14:creationId xmlns:p14="http://schemas.microsoft.com/office/powerpoint/2010/main" val="805376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518C3-4DD1-492F-B1C0-1ECDBA2E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Locally trained hardship detection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10477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d710eb4c9f42f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AA093-9509-4D5E-9FBE-CCFCA66A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678 training examples | 181 development evaluation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3C56E-5173-48B5-8577-D9F6EC3C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Live combination: 94.7% precision, 100% recall. Public development data only; all flags require review.</a:t>
            </a:r>
          </a:p>
        </p:txBody>
      </p:sp>
    </p:spTree>
    <p:extLst>
      <p:ext uri="{BB962C8B-B14F-4D97-AF65-F5344CB8AC3E}">
        <p14:creationId xmlns:p14="http://schemas.microsoft.com/office/powerpoint/2010/main" val="1691950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2544E-CC72-4274-A8C4-D12527E6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 locally fine-tuned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BD027-1DBC-4982-B5A2-C030682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Qwen2.5-0.5B-Instruct adapted locally with LoRA on an RTX 4060. 5,40,672 trainable adapter parameters.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D8971-E936-46F3-B729-34ADC43A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1529 factual training examples. Customers remain separate across training, development and final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0B46A-B500-4304-8387-0E6ADAE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Final factual-format checks: 468 outputs across 117 cases, including missing values and unsafe instruction challenges.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2561F-2C47-4CE2-80B0-6DF1C29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Complete exact-value output: 100.0%. Contact permission and recommended actions still come from deterministic rules.</a:t>
            </a:r>
          </a:p>
        </p:txBody>
      </p:sp>
    </p:spTree>
    <p:extLst>
      <p:ext uri="{BB962C8B-B14F-4D97-AF65-F5344CB8AC3E}">
        <p14:creationId xmlns:p14="http://schemas.microsoft.com/office/powerpoint/2010/main" val="1698180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1B7DE-4943-4C9A-865D-3574FAF2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Additional reviewed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5CFB3-3CDC-4A55-A301-B8FF3B72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Next Best Action explains safeguards, alternatives, programme checks and policy conflicts.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7A9E1-975A-408C-B87D-2E6B8933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Channels show uncertainty and capacity limits. Routing checks skills, French site, support certification and 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1A8B8-47A1-4852-891D-28481B4A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Structured call notes separate customer proposals, explicit commitments, issue mentions and follow-ups with timestamps.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9028A-387C-4436-BED9-70740C76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All ten QA items show context and uncertainty. Employees record per-item evidence; no automatic compliance verdict is issued.</a:t>
            </a:r>
          </a:p>
        </p:txBody>
      </p:sp>
    </p:spTree>
    <p:extLst>
      <p:ext uri="{BB962C8B-B14F-4D97-AF65-F5344CB8AC3E}">
        <p14:creationId xmlns:p14="http://schemas.microsoft.com/office/powerpoint/2010/main" val="1642250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12B29-4446-4B48-BC1C-46ACD37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Checks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82E06-D179-410B-B06C-5EE68A6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130 automated checks pass, including the local UI. Public numeric benchmarks pass; 24 policy/scope acceptance checks pass.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9D6D7-D717-4B4B-8F85-FC0CDDC6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Whisper small.en: 11.02% word error rate on 1803 approved synthetic recordings. Speaker attribution still requires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F3316-AA9C-4155-8555-8C3D3C2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CPU Qwen drafts: 10/10 passed typed exact-value checks. Median latency 7.0 seconds; summary usefulness requires employee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8D4C6-3C61-44CA-AC31-EFB7538D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Next: incorporate the final rubric and extra questions, publish the C360 link and record the demo.</a:t>
            </a:r>
          </a:p>
        </p:txBody>
      </p:sp>
    </p:spTree>
    <p:extLst>
      <p:ext uri="{BB962C8B-B14F-4D97-AF65-F5344CB8AC3E}">
        <p14:creationId xmlns:p14="http://schemas.microsoft.com/office/powerpoint/2010/main" val="1154857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2026-10-04T11:43:17.2900000Z</dcterms:created>
  <dcterms:modified xsi:type="dcterms:W3CDTF">2026-10-04T11:43:17.2900000Z</dcterms:modified>
</coreProperties>
</file>