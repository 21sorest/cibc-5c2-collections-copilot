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ac2b8d314b4842" /><Relationship Type="http://schemas.openxmlformats.org/officeDocument/2006/relationships/extended-properties" Target="/docProps/app.xml" Id="R9f20b71e40d643da" /><Relationship Type="http://schemas.openxmlformats.org/officeDocument/2006/relationships/officeDocument" Target="/ppt/presentation.xml" Id="R8857cbb155214d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e76a82140f4d3c"/>
  </p:sldMasterIdLst>
  <p:notesMasterIdLst>
    <p:notesMasterId xmlns:r="http://schemas.openxmlformats.org/officeDocument/2006/relationships" r:id="R70323e4fb02a4b65"/>
  </p:notesMasterIdLst>
  <p:sldIdLst>
    <p:sldId xmlns:r="http://schemas.openxmlformats.org/officeDocument/2006/relationships" id="256" r:id="Ra81e7ac7be3b4523"/>
    <p:sldId xmlns:r="http://schemas.openxmlformats.org/officeDocument/2006/relationships" id="257" r:id="Rd2fb7a3f97c34d46"/>
    <p:sldId xmlns:r="http://schemas.openxmlformats.org/officeDocument/2006/relationships" id="258" r:id="Re8b69d933dd64c0f"/>
    <p:sldId xmlns:r="http://schemas.openxmlformats.org/officeDocument/2006/relationships" id="259" r:id="R8222b81bb83548a4"/>
    <p:sldId xmlns:r="http://schemas.openxmlformats.org/officeDocument/2006/relationships" id="260" r:id="R7322a85db3fd4a36"/>
    <p:sldId xmlns:r="http://schemas.openxmlformats.org/officeDocument/2006/relationships" id="261" r:id="Rd8374ec9728f4e26"/>
    <p:sldId xmlns:r="http://schemas.openxmlformats.org/officeDocument/2006/relationships" id="262" r:id="Rfae1774b49e04e45"/>
    <p:sldId xmlns:r="http://schemas.openxmlformats.org/officeDocument/2006/relationships" id="263" r:id="R8c22eb74850e4189"/>
    <p:sldId xmlns:r="http://schemas.openxmlformats.org/officeDocument/2006/relationships" id="264" r:id="R0aef0a3e9d164c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68556f52e74c92" /><Relationship Type="http://schemas.openxmlformats.org/officeDocument/2006/relationships/slideMaster" Target="/ppt/slideMasters/slideMaster1.xml" Id="R98e76a82140f4d3c" /><Relationship Type="http://schemas.openxmlformats.org/officeDocument/2006/relationships/notesMaster" Target="/ppt/notesMasters/notesMaster1.xml" Id="R70323e4fb02a4b65" /><Relationship Type="http://schemas.openxmlformats.org/officeDocument/2006/relationships/presProps" Target="/ppt/presProps.xml" Id="R42a2e57a5afe4ced" /><Relationship Type="http://schemas.openxmlformats.org/officeDocument/2006/relationships/tableStyles" Target="/ppt/tableStyles.xml" Id="R5bdc6461cfa24396" /><Relationship Type="http://schemas.openxmlformats.org/officeDocument/2006/relationships/slide" Target="/ppt/slides/slide1.xml" Id="Ra81e7ac7be3b4523" /><Relationship Type="http://schemas.openxmlformats.org/officeDocument/2006/relationships/slide" Target="/ppt/slides/slide2.xml" Id="Rd2fb7a3f97c34d46" /><Relationship Type="http://schemas.openxmlformats.org/officeDocument/2006/relationships/slide" Target="/ppt/slides/slide3.xml" Id="Re8b69d933dd64c0f" /><Relationship Type="http://schemas.openxmlformats.org/officeDocument/2006/relationships/slide" Target="/ppt/slides/slide4.xml" Id="R8222b81bb83548a4" /><Relationship Type="http://schemas.openxmlformats.org/officeDocument/2006/relationships/slide" Target="/ppt/slides/slide5.xml" Id="R7322a85db3fd4a36" /><Relationship Type="http://schemas.openxmlformats.org/officeDocument/2006/relationships/slide" Target="/ppt/slides/slide6.xml" Id="Rd8374ec9728f4e26" /><Relationship Type="http://schemas.openxmlformats.org/officeDocument/2006/relationships/slide" Target="/ppt/slides/slide7.xml" Id="Rfae1774b49e04e45" /><Relationship Type="http://schemas.openxmlformats.org/officeDocument/2006/relationships/slide" Target="/ppt/slides/slide8.xml" Id="R8c22eb74850e4189" /><Relationship Type="http://schemas.openxmlformats.org/officeDocument/2006/relationships/slide" Target="/ppt/slides/slide9.xml" Id="R0aef0a3e9d164c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ac9715ba57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419c657d6f400a" /><Relationship Type="http://schemas.openxmlformats.org/officeDocument/2006/relationships/notesMaster" Target="/ppt/notesMasters/notesMaster1.xml" Id="Rdd069bb9611a47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302294dd6248b0" /><Relationship Type="http://schemas.openxmlformats.org/officeDocument/2006/relationships/notesMaster" Target="/ppt/notesMasters/notesMaster1.xml" Id="R8b1a1c9c5b8e4c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59640e090c4e3c" /><Relationship Type="http://schemas.openxmlformats.org/officeDocument/2006/relationships/notesMaster" Target="/ppt/notesMasters/notesMaster1.xml" Id="R0041f07fcaee4d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4b1138fd9e494a" /><Relationship Type="http://schemas.openxmlformats.org/officeDocument/2006/relationships/notesMaster" Target="/ppt/notesMasters/notesMaster1.xml" Id="Rf23f4b0cdea940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134c2fafef4ff0" /><Relationship Type="http://schemas.openxmlformats.org/officeDocument/2006/relationships/notesMaster" Target="/ppt/notesMasters/notesMaster1.xml" Id="R4fd2310db79b41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498e041b834170" /><Relationship Type="http://schemas.openxmlformats.org/officeDocument/2006/relationships/notesMaster" Target="/ppt/notesMasters/notesMaster1.xml" Id="R8cd528a5be944c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756d9a91974d3e" /><Relationship Type="http://schemas.openxmlformats.org/officeDocument/2006/relationships/notesMaster" Target="/ppt/notesMasters/notesMaster1.xml" Id="R83140a8332fd4b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e8f71f3e134cbc" /><Relationship Type="http://schemas.openxmlformats.org/officeDocument/2006/relationships/notesMaster" Target="/ppt/notesMasters/notesMaster1.xml" Id="R44b54475c7974c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dffe9fa80e4738" /><Relationship Type="http://schemas.openxmlformats.org/officeDocument/2006/relationships/notesMaster" Target="/ppt/notesMasters/notesMaster1.xml" Id="Rf7c6c192670b47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5C2. All dataset facts refer to the fully synthetic Maple Bank release dated 2026-09-28. Sources: Build Phase/CIBC Hackathon Build Phase - Instructions.pdf; README.md. Draft for team review before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framing from System Design Phase/5C2_SystemDesign.pdf. Preparation-time improvement is an intended measurement, not a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results: reports/quality_summary.json, reports/data_quality.md, reports/features_summary.json, reports/c360_export.json. Contract: contracts/c360.json. Counts describe accepted coverage, not all raw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modules: pipeline.py, sql/foundation.sql, questions.py, features.py, sql/features.sql, conversation.py, decisions.py, calls.py, assistant.py. Architecture PNG is available separately in docs/architecture.png.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flow implemented in app.py and conversation.py. This is an illustrative input used in UI validation, not a quote from a real customer. Policy evidence comes from synthetic POL-COLL-004 v4.2 and POL-COLL-001 v3.0.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reports/classifier_evaluation.json. CPU word/bigram naive Bayes, customer/text/token-connected development split. Excludes 25 protected-content-labeled examples and 116 unapproved sources. Rules were previously assessed on public labels, so this is not a blind comparison. Rare-class models performed worse and do not replace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reports/llm_training.json; reports/llm_adapter_dev.json; reports/llm_adapter_test.json; reports/llm_base_dev.json. Deterministic factual-format supervision of an existing pretrained model, not training from scratch or proof of conversational intelligence. Exact values are validated before application-rendered sentences.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decisions.py, calls.py, reports/qa_evaluation.json. All are prototype proposals or evidence triage, not production optimization or automated compliance judgments. This covers the six Layer 4 choices in System Design Phase/CIBC Collections Hackathon Problem Statement-3.pdf.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unit tests, reports/benchmark_dev_evaluation.json, reports/speech_evaluation_small_en_2000.json, reports/local_llm_evaluation.json. No paid API requests were made. Local Qwen is pretrained, separate from the team-trained classifier. No hidden benchmark, semantic summary accuracy or business-time improvement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0805867d54e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f394cf3fb4f37" /><Relationship Type="http://schemas.openxmlformats.org/officeDocument/2006/relationships/slideLayout" Target="/ppt/slideLayouts/slideLayout1.xml" Id="Rbaa0b375a4d847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0b375a4d847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bb36e26154403" /><Relationship Type="http://schemas.openxmlformats.org/officeDocument/2006/relationships/notesSlide" Target="/ppt/notesSlides/notesSlide1.xml" Id="R39bb955bba77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c1c8ab5ab43e4" /><Relationship Type="http://schemas.openxmlformats.org/officeDocument/2006/relationships/notesSlide" Target="/ppt/notesSlides/notesSlide2.xml" Id="Ra02bfdcaf12142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eba260ffe4e65" /><Relationship Type="http://schemas.openxmlformats.org/officeDocument/2006/relationships/notesSlide" Target="/ppt/notesSlides/notesSlide3.xml" Id="Rb445d35bdda64a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0b81c084d4efc" /><Relationship Type="http://schemas.openxmlformats.org/officeDocument/2006/relationships/notesSlide" Target="/ppt/notesSlides/notesSlide4.xml" Id="Re713f9bbe52b45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39833449641ca" /><Relationship Type="http://schemas.openxmlformats.org/officeDocument/2006/relationships/notesSlide" Target="/ppt/notesSlides/notesSlide5.xml" Id="R7e5c7e054b0645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4992b0885419b" /><Relationship Type="http://schemas.openxmlformats.org/officeDocument/2006/relationships/chart" Target="/ppt/slides/charts/chart1.xml" Id="Rbf8113c7b8554163" /><Relationship Type="http://schemas.openxmlformats.org/officeDocument/2006/relationships/notesSlide" Target="/ppt/notesSlides/notesSlide6.xml" Id="R0d6b3b645e47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e2cc1b4b8489c" /><Relationship Type="http://schemas.openxmlformats.org/officeDocument/2006/relationships/notesSlide" Target="/ppt/notesSlides/notesSlide7.xml" Id="R92ca79807f9c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fdf64069e4580" /><Relationship Type="http://schemas.openxmlformats.org/officeDocument/2006/relationships/notesSlide" Target="/ppt/notesSlides/notesSlide8.xml" Id="R0ab41392e585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39c82d5314f53" /><Relationship Type="http://schemas.openxmlformats.org/officeDocument/2006/relationships/notesSlide" Target="/ppt/notesSlides/notesSlide9.xml" Id="Ra961cbb3fc1b48e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Trained classifier</c:v>
          </c:tx>
          <c:spPr>
            <a:solidFill xmlns:a="http://schemas.openxmlformats.org/drawingml/2006/main">
              <a:srgbClr val="8C183A"/>
            </a:solidFill>
          </c:spPr>
          <c:cat>
            <c:strRef>
              <c:f>'Chart Data'!$A$2:$A$3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98.6</c:v>
                </c:pt>
                <c:pt idx="1">
                  <c:v>98.6</c:v>
                </c:pt>
              </c:numCache>
            </c:numRef>
          </c:val>
        </c:ser>
        <c:ser>
          <c:idx val="1"/>
          <c:order val="1"/>
          <c:tx>
            <c:v>Existing rules</c:v>
          </c:tx>
          <c:spPr>
            <a:solidFill xmlns:a="http://schemas.openxmlformats.org/drawingml/2006/main">
              <a:srgbClr val="287B82"/>
            </a:solidFill>
          </c:spPr>
          <c:cat>
            <c:strRef>
              <c:f>'Chart Data'!$C$2:$C$3</c:f>
              <c:strCache>
                <c:ptCount val="2"/>
                <c:pt idx="0">
                  <c:v>Precision</c:v>
                </c:pt>
                <c:pt idx="1">
                  <c:v>Recall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95.7</c:v>
                </c:pt>
                <c:pt idx="1">
                  <c:v>93.1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49060-FD4A-40FA-B3DE-05BC5ADA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Collections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2781E-0D20-4423-9F72-D00E3F0B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Evidence-backed assistance for collections employees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59515-55AE-4591-93D0-B318F852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Team 5C2 | CIBC Hackathon Build 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DC734-ED70-4B9C-AA6F-CD4D1D2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Local classifier and language generation | Employee review</a:t>
            </a:r>
          </a:p>
        </p:txBody>
      </p:sp>
    </p:spTree>
    <p:extLst>
      <p:ext uri="{BB962C8B-B14F-4D97-AF65-F5344CB8AC3E}">
        <p14:creationId xmlns:p14="http://schemas.microsoft.com/office/powerpoint/2010/main" val="419617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6622F-A31C-4781-94CF-81C600CA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The employee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16D55-93A2-4ECC-B8E6-B9312F2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Find a trustworthy customer view across five source systems before discussing the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D6CF3-D794-42D3-8772-CE419D9A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Identify financial hardship and disputes during the conversation, then retrieve the applicable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67B50-99A5-4E26-828F-61225190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Review a suggested response, record the employee decision, and preserve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FCA74-FAF6-4AC6-9FBD-2797F94E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Measure preparation time against manual lookup. The original 30% improvement target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1864370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22F76-0E60-4742-9E03-66937387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Data foundation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FB688-1E23-45C7-8F7D-C51C976A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1,011,944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F6980-CBAE-4C91-B242-B037DAF0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accepted golden customers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7B70-EA11-43B6-A308-FC5F6CC6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1,142,071 matched accounts | 338,295 served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C9A31-64D5-4E78-9D5E-BD58CEC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13 foundation checks cover keys, customer ownership, transcript links, amounts and contract schema. Contradictory records are quarantined.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D1EDD-4656-483A-B579-167FF251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C360 export: 8.3 MB Parquet, with checksum and explicit coverage.</a:t>
            </a:r>
          </a:p>
        </p:txBody>
      </p:sp>
    </p:spTree>
    <p:extLst>
      <p:ext uri="{BB962C8B-B14F-4D97-AF65-F5344CB8AC3E}">
        <p14:creationId xmlns:p14="http://schemas.microsoft.com/office/powerpoint/2010/main" val="1651348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A6526-D18C-4FC9-B09A-C464C158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Four connected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BD86F-FBCA-4AD1-A609-52D131E8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  Data product: raw sources, validated identities, curated records and golden C360.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86151-3F3E-4C7E-9C7B-B35EFFAE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  Insight: supported questions run trusted SQL or retrieve current policy sources; unsupported requests are refused.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B84C8-8FD5-413F-9D66-95458FAE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3  Features: 12 versioned case features, shared text extraction and the same classifier tokenizer for training and inference.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409EB-5868-4A23-B7B1-2BC9EF65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4  Assistance: conversation help and decision proposals, followed by employee accept, edit or reject.</a:t>
            </a:r>
          </a:p>
        </p:txBody>
      </p:sp>
    </p:spTree>
    <p:extLst>
      <p:ext uri="{BB962C8B-B14F-4D97-AF65-F5344CB8AC3E}">
        <p14:creationId xmlns:p14="http://schemas.microsoft.com/office/powerpoint/2010/main" val="15432060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203BC-745C-4F55-8404-E431064E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Assistance during a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7C476-7330-46C3-ADAB-41B9E57E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Illustrative customer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1BA13-93FB-4D38-8CFA-FE8046E4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“I lost my job and cannot afford this payment.”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AA898-B4D9-41DF-82B9-F2AF508C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Acknowledge the hardship. Review support options and affordability before requesting a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401A0-38D5-46D2-AFC7-BADC30FA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Identity verification precedes disclosure. Policy sources and detected signals accompany the draft. Employee review records no automatic action.</a:t>
            </a:r>
          </a:p>
        </p:txBody>
      </p:sp>
    </p:spTree>
    <p:extLst>
      <p:ext uri="{BB962C8B-B14F-4D97-AF65-F5344CB8AC3E}">
        <p14:creationId xmlns:p14="http://schemas.microsoft.com/office/powerpoint/2010/main" val="373552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B8529-1618-481C-AC3E-E8FA0E7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Locally trained hardship detection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23900" y="1762125"/>
          <a:ext xmlns:a="http://schemas.openxmlformats.org/drawingml/2006/main" cx="1047750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8113c7b855416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60D39-C0B3-47DE-A84A-D823E32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678 training examples | 181 development evaluation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2EBC5-F47F-42A1-9A3D-C6C3296E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Live combination: 94.7% precision, 100% recall. Public development data only; all flags require review.</a:t>
            </a:r>
          </a:p>
        </p:txBody>
      </p:sp>
    </p:spTree>
    <p:extLst>
      <p:ext uri="{BB962C8B-B14F-4D97-AF65-F5344CB8AC3E}">
        <p14:creationId xmlns:p14="http://schemas.microsoft.com/office/powerpoint/2010/main" val="17182774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98361-A294-46B2-B313-BDCCD026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 locally fine-tuned language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02D2-136F-4482-A4FD-80CDCD12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Qwen2.5-0.5B-Instruct adapted locally with LoRA on an RTX 4060. 5,40,672 trainable adapter parameters.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30502-CD73-4A9A-81D7-D6B009E5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1529 factual training examples. Customers remain separate across training, development and final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EDCA9-31D1-45E9-B9C8-2225B1B9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Final factual-format checks: 468 outputs across 117 cases, including missing values and unsafe instruction challenges.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E379A-5117-4A9D-82CA-EE0DC47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Complete exact-value output: 100.0%. Contact permission and recommended actions still come from deterministic rules.</a:t>
            </a:r>
          </a:p>
        </p:txBody>
      </p:sp>
    </p:spTree>
    <p:extLst>
      <p:ext uri="{BB962C8B-B14F-4D97-AF65-F5344CB8AC3E}">
        <p14:creationId xmlns:p14="http://schemas.microsoft.com/office/powerpoint/2010/main" val="962305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2FDF6-590D-474B-BC81-61F1BD47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Additional reviewed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F99AB-C31B-4640-B0D1-4F842BB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Next Best Action explains safeguards, alternatives, programme checks and policy conflicts.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6D2B4-FA94-4CAF-8C6B-8C9420C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Channels show uncertainty and capacity limits. Routing checks skills, French site, support certification and 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1B6E-DF42-47FA-A8FE-57B00C9E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Structured call notes separate customer proposals, explicit commitments, issue mentions and follow-ups with timestamps.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71E6B-C318-4303-9130-A358D750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All ten QA items show context and uncertainty. Employees record per-item evidence; no automatic compliance verdict is issued.</a:t>
            </a:r>
          </a:p>
        </p:txBody>
      </p:sp>
    </p:spTree>
    <p:extLst>
      <p:ext uri="{BB962C8B-B14F-4D97-AF65-F5344CB8AC3E}">
        <p14:creationId xmlns:p14="http://schemas.microsoft.com/office/powerpoint/2010/main" val="1055381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45D9C-A10C-4C50-9DFB-B864AE1B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Measured checks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FEEF4-CD24-4ED9-8E66-F997B2E8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114 automated checks pass, including the local UI. Public numeric benchmarks pass; 24 policy/scope acceptance checks pass.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E3FDF-D980-447E-863E-EF553A4D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Whisper small.en: 11.02% word error rate on 1803 approved synthetic recordings. Speaker attribution still requires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49D07-EF5E-4385-8743-05E8F0E0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CPU Qwen drafts: 10/10 passed typed exact-value checks. Median latency 7.0 seconds; summary usefulness requires employee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4049B-42FA-46B2-A991-FE47A71F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Next: incorporate the final rubric and extra questions, connect the private repository, publish the C360 link, and record the demo.</a:t>
            </a:r>
          </a:p>
        </p:txBody>
      </p:sp>
    </p:spTree>
    <p:extLst>
      <p:ext uri="{BB962C8B-B14F-4D97-AF65-F5344CB8AC3E}">
        <p14:creationId xmlns:p14="http://schemas.microsoft.com/office/powerpoint/2010/main" val="581796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2026-10-04T11:20:28.1320000Z</dcterms:created>
  <dcterms:modified xsi:type="dcterms:W3CDTF">2026-10-04T11:20:28.1320000Z</dcterms:modified>
</coreProperties>
</file>