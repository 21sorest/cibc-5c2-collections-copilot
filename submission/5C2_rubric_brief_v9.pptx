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370dfe82a264661" /><Relationship Type="http://schemas.openxmlformats.org/officeDocument/2006/relationships/extended-properties" Target="/docProps/app.xml" Id="R72a42259a5cb42f6" /><Relationship Type="http://schemas.openxmlformats.org/officeDocument/2006/relationships/officeDocument" Target="/ppt/presentation.xml" Id="R962a93fb64c14f5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e4406f120d4167"/>
  </p:sldMasterIdLst>
  <p:notesMasterIdLst>
    <p:notesMasterId xmlns:r="http://schemas.openxmlformats.org/officeDocument/2006/relationships" r:id="R5daebbbad969460f"/>
  </p:notesMasterIdLst>
  <p:sldIdLst>
    <p:sldId xmlns:r="http://schemas.openxmlformats.org/officeDocument/2006/relationships" id="256" r:id="R2d0352881ffd48c3"/>
    <p:sldId xmlns:r="http://schemas.openxmlformats.org/officeDocument/2006/relationships" id="257" r:id="Rad96cdc51a9f490f"/>
    <p:sldId xmlns:r="http://schemas.openxmlformats.org/officeDocument/2006/relationships" id="258" r:id="R8f078b0b72b74eb7"/>
    <p:sldId xmlns:r="http://schemas.openxmlformats.org/officeDocument/2006/relationships" id="259" r:id="Rb02e1dd7cf9045cc"/>
    <p:sldId xmlns:r="http://schemas.openxmlformats.org/officeDocument/2006/relationships" id="260" r:id="R60cb2ebde1b443b1"/>
    <p:sldId xmlns:r="http://schemas.openxmlformats.org/officeDocument/2006/relationships" id="261" r:id="R3e453c360d1548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605d04e33ae44d8" /><Relationship Type="http://schemas.openxmlformats.org/officeDocument/2006/relationships/slideMaster" Target="/ppt/slideMasters/slideMaster1.xml" Id="R94e4406f120d4167" /><Relationship Type="http://schemas.openxmlformats.org/officeDocument/2006/relationships/notesMaster" Target="/ppt/notesMasters/notesMaster1.xml" Id="R5daebbbad969460f" /><Relationship Type="http://schemas.openxmlformats.org/officeDocument/2006/relationships/presProps" Target="/ppt/presProps.xml" Id="R61a1f0e9c4634632" /><Relationship Type="http://schemas.openxmlformats.org/officeDocument/2006/relationships/tableStyles" Target="/ppt/tableStyles.xml" Id="R87892452c6e0463c" /><Relationship Type="http://schemas.openxmlformats.org/officeDocument/2006/relationships/slide" Target="/ppt/slides/slide1.xml" Id="R2d0352881ffd48c3" /><Relationship Type="http://schemas.openxmlformats.org/officeDocument/2006/relationships/slide" Target="/ppt/slides/slide2.xml" Id="Rad96cdc51a9f490f" /><Relationship Type="http://schemas.openxmlformats.org/officeDocument/2006/relationships/slide" Target="/ppt/slides/slide3.xml" Id="R8f078b0b72b74eb7" /><Relationship Type="http://schemas.openxmlformats.org/officeDocument/2006/relationships/slide" Target="/ppt/slides/slide4.xml" Id="Rb02e1dd7cf9045cc" /><Relationship Type="http://schemas.openxmlformats.org/officeDocument/2006/relationships/slide" Target="/ppt/slides/slide5.xml" Id="R60cb2ebde1b443b1" /><Relationship Type="http://schemas.openxmlformats.org/officeDocument/2006/relationships/slide" Target="/ppt/slides/slide6.xml" Id="R3e453c360d15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775eae389ae4d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62eb8e48a4749ca" /><Relationship Type="http://schemas.openxmlformats.org/officeDocument/2006/relationships/notesMaster" Target="/ppt/notesMasters/notesMaster1.xml" Id="Rad54e95964fe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5cf70a1b5dc4c61" /><Relationship Type="http://schemas.openxmlformats.org/officeDocument/2006/relationships/notesMaster" Target="/ppt/notesMasters/notesMaster1.xml" Id="R3435891f0a15464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936201eb3043dc" /><Relationship Type="http://schemas.openxmlformats.org/officeDocument/2006/relationships/notesMaster" Target="/ppt/notesMasters/notesMaster1.xml" Id="R6da6afcd45ac48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ddfece8bd6747a2" /><Relationship Type="http://schemas.openxmlformats.org/officeDocument/2006/relationships/notesMaster" Target="/ppt/notesMasters/notesMaster1.xml" Id="R8b19248c4300488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df699a3b2f4afe" /><Relationship Type="http://schemas.openxmlformats.org/officeDocument/2006/relationships/notesMaster" Target="/ppt/notesMasters/notesMaster1.xml" Id="R28f430e459644b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bcf778116d4b14" /><Relationship Type="http://schemas.openxmlformats.org/officeDocument/2006/relationships/notesMaster" Target="/ppt/notesMasters/notesMaster1.xml" Id="Rb4372d8a09da4de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Agent Assist remains primary. Other workflows now include deeper contextual evidence and employee review. Sources: docs/deeper_use_cases.md; calls.py; decisions.py.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Paid drafting has not been called. Whisper and base Qwen are pretrained. A team-trained LoRA adapts Qwen to a narrow factual task; no training from scratch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reports/classifier_evaluation.json; reports/speech_evaluation_small_en_2000.json; reports/local_llm_evaluation.json; reports/benchmark_dev_evaluation.json; reports/decision_safeguards.json; tmp/final_tests.log. Metrics describe supplied development samples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docs/model_decisions.md; Build Phase/CIBC Hackathon Build Phase - Instructions.pdf; System Design Phase/5C2_SystemDesign.pdf. Synthetic Maple Bank dataset. These are discussion categories, not an official rubric or proposed point allocation. Organisers decide model eligibility, depth versus breadth and benchmark rules.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49972b82ae4a3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7d04a22302f4219" /><Relationship Type="http://schemas.openxmlformats.org/officeDocument/2006/relationships/slideLayout" Target="/ppt/slideLayouts/slideLayout1.xml" Id="R892d1e4c9bf444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2d1e4c9bf444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6c4848d05497c" /><Relationship Type="http://schemas.openxmlformats.org/officeDocument/2006/relationships/notesSlide" Target="/ppt/notesSlides/notesSlide1.xml" Id="Rdc388640da36426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0336fc0ace41f4" /><Relationship Type="http://schemas.openxmlformats.org/officeDocument/2006/relationships/notesSlide" Target="/ppt/notesSlides/notesSlide2.xml" Id="Rf6484e00a8d54b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0e4df535854235" /><Relationship Type="http://schemas.openxmlformats.org/officeDocument/2006/relationships/notesSlide" Target="/ppt/notesSlides/notesSlide3.xml" Id="R48f0acc5819a47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845098896e4762" /><Relationship Type="http://schemas.openxmlformats.org/officeDocument/2006/relationships/notesSlide" Target="/ppt/notesSlides/notesSlide4.xml" Id="R68036a2b2be448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822fc42dd4abb" /><Relationship Type="http://schemas.openxmlformats.org/officeDocument/2006/relationships/notesSlide" Target="/ppt/notesSlides/notesSlide5.xml" Id="Rbcb3e0763d614c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52a550bb24df3" /><Relationship Type="http://schemas.openxmlformats.org/officeDocument/2006/relationships/notesSlide" Target="/ppt/notesSlides/notesSlide6.xml" Id="Re2b8906cc45543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E0E407-57CF-463F-972C-E18BC4D6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Collections Copilot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FCA02-8484-4087-872B-35011CC2E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0287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53746"/>
                </a:solidFill>
                <a:latin typeface="Arial"/>
                <a:ea typeface="Arial"/>
                <a:cs typeface="Arial"/>
              </a:rPr>
              <a:t>Helping collections employees prepare a case and respond to customers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D2EC0-6D3F-4F5D-8E12-8F0C20D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29125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 unified customer view, relevant policy and suggested assistance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8BA88-35F6-40F4-BDCB-D69B3D23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1500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Team 5C2. Project overview for rubric discussion.</a:t>
            </a:r>
          </a:p>
        </p:txBody>
      </p:sp>
    </p:spTree>
    <p:extLst>
      <p:ext uri="{BB962C8B-B14F-4D97-AF65-F5344CB8AC3E}">
        <p14:creationId xmlns:p14="http://schemas.microsoft.com/office/powerpoint/2010/main" val="17859992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1CB6F5-CA88-402F-9CCC-58BCFA3C8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Four connected layers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4AA485-5876-463F-9113-CB5FBAA2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  Data foundation: match identities across five systems, validate records and build a customer C360 with explicit missingness.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A9E77-B602-4349-87EA-20067F894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2  Questions: answer supported collections questions using trusted SQL, current policy or call evidence, with sources and refusals.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7F8251-C371-4D8F-8907-3EF630604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3  Features: serve 12 versioned case features with the same offline and online definitions, plus text signals.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1F9EF7-C2B0-4673-962F-F10384661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4  Employee assistance: suggest a response or next step, explain its evidence and record accept, edit or reject decisions.</a:t>
            </a:r>
          </a:p>
        </p:txBody>
      </p:sp>
    </p:spTree>
    <p:extLst>
      <p:ext uri="{BB962C8B-B14F-4D97-AF65-F5344CB8AC3E}">
        <p14:creationId xmlns:p14="http://schemas.microsoft.com/office/powerpoint/2010/main" val="96233300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4A5940-8E1E-4289-AFAA-3C1D60183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Six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F7A31-050D-46D9-B038-3F36B131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66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Agent Assist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71DA5-C1BB-40C3-9F1A-9FC62841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621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Help during the conversation, including hardship, disputes and policy guidance.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631DF8-2C98-4F40-BA28-A4CC263B0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Next Best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9B8480-9ABF-474D-A9D9-EA2737883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38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Explain action reasons, alternatives and programme eligibility prerequisites.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5095E0-ACF2-4840-A6E3-B92674842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9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Channel comparison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6424ED-5D16-493B-AE86-EE3E44F3A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149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Show outcome support, uncertainty, timing and unmet operational checks.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22C0AF-0CF0-479F-9C5A-FD1F3EA1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6687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Agent routing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9139A-D627-4A93-85E9-EADE163F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6217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Match all required skills and language; explain capacity and roster exclusions.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2400EF-DDE6-4B6D-BFCD-D33E0DB6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Post-call summary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FA261F-A997-43E8-8127-25033A72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638550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Separate proposed terms, explicit commitments and follow-ups with timestamps.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0C3303-A60F-44C2-B5BA-78597A55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619625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Quality assurance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82046-8AA3-4273-A175-9FB6F22E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5114925"/>
            <a:ext cx="5048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Review context for ten checklist items and record employee evidence per item.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9369CB-2F61-4C2F-B0F7-6BB0C49C0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2388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Local reviewed workflows. Treatment effectiveness and production readiness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398062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1A8A80-4DB3-4797-9A63-87852F474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AI and model choices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8FA196-082D-4605-AF8D-02192E22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Team-trained model: a small text classifier trained on approved notes and customer transcript text to identify financial hardship.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B68AAB-1A8B-4573-A4B0-BD2026300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Local models: Whisper transcribes audio. A team-trained Qwen LoRA selects cited case facts. Both run locally without paid API calls.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FC5E85-838B-4FC0-961E-AF6EB5DA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052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Optional paid API: an adapter is implemented, but needs user credentials and cost approval. It remains untested.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E1A1DB-45BA-4CF8-AB07-D346641E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10668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Controls: deterministic contact gates and employee review remain in place for every model approach.</a:t>
            </a:r>
          </a:p>
        </p:txBody>
      </p:sp>
    </p:spTree>
    <p:extLst>
      <p:ext uri="{BB962C8B-B14F-4D97-AF65-F5344CB8AC3E}">
        <p14:creationId xmlns:p14="http://schemas.microsoft.com/office/powerpoint/2010/main" val="75205478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8A0841-83B5-439B-8047-35ABB417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Current development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553807-39DC-4065-A7E3-6F2A1D9D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130 automated checks pass. The proposal safeguard audit checks 719 approved cases with 0 failures of tested constraints.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164DCB-9A64-461F-BCD1-03F3DC239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All 12 numeric development benchmarks and 24 source-grounded policy/scope checks pass. Broad semantic accuracy remains unmeasured.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177DA4-7CC0-4F4A-B49C-E041351E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Hardship, 181 development examples: classifier 98.6% precision/recall. Live combination: 94.7% precision, 100% recall.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15A0CA-5CD5-4120-A673-DFBC376F9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Whisper small.en: 11.02% word error rate on 1803 approved synthetic recordings. Speaker review remains required.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FF9FB3-EDE5-4AE8-9987-E0120694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LoRA: 1529 training examples; 468/468 final exact-value outputs. Narrow synthetic task.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C13404-06C6-4972-94B4-2C05C46BE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Hidden-test results and preparation-time savings remain unmeasured.</a:t>
            </a:r>
          </a:p>
        </p:txBody>
      </p:sp>
    </p:spTree>
    <p:extLst>
      <p:ext uri="{BB962C8B-B14F-4D97-AF65-F5344CB8AC3E}">
        <p14:creationId xmlns:p14="http://schemas.microsoft.com/office/powerpoint/2010/main" val="12322802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E822A-5023-44BE-BEBD-7C00E8DF9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8C183A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8C183A"/>
                </a:solidFill>
                <a:latin typeface="Arial"/>
                <a:ea typeface="Arial"/>
                <a:cs typeface="Arial"/>
              </a:rPr>
              <a:t>Possible grading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5D945A-5E36-445F-925D-322211E47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Data correctness: matching quality, financial totals, quarantine, coverage and a reproducible C360 contract.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47486-5673-4222-8285-8950731B3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Question accuracy: benchmark tolerance, usable SQL or source evidence, policy applicability and correct refusals.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31632-020D-4A3B-858D-BB06D20E3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0517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Model quality: separate training and evaluation, precision/recall, transcription error and factual draft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9170DC-2045-4C7B-BA33-E633DB74A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Workflow quality: depth of the chosen use case, usability, response time and useful explanations.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3A53C0-EF02-4D18-B911-22B50F97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38725"/>
            <a:ext cx="1066800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74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746"/>
                </a:solidFill>
                <a:latin typeface="Arial"/>
                <a:ea typeface="Arial"/>
                <a:cs typeface="Arial"/>
              </a:rPr>
              <a:t>Safeguards and reproducibility: consent, holds, privacy, employee control, executable code and honest limitations.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DC27C2-829A-4EC5-8B2D-9A810A6E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471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4717B"/>
                </a:solidFill>
                <a:latin typeface="Arial"/>
                <a:ea typeface="Arial"/>
                <a:cs typeface="Arial"/>
              </a:rPr>
              <a:t>Organiser decisions: paid APIs, pretrained models, use-case breadth and scoring weights.</a:t>
            </a:r>
          </a:p>
        </p:txBody>
      </p:sp>
    </p:spTree>
    <p:extLst>
      <p:ext uri="{BB962C8B-B14F-4D97-AF65-F5344CB8AC3E}">
        <p14:creationId xmlns:p14="http://schemas.microsoft.com/office/powerpoint/2010/main" val="756181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2026-10-04T11:43:17.5160000Z</dcterms:created>
  <dcterms:modified xsi:type="dcterms:W3CDTF">2026-10-04T11:43:17.5160000Z</dcterms:modified>
</coreProperties>
</file>