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f782ba1bd4518" /><Relationship Type="http://schemas.openxmlformats.org/officeDocument/2006/relationships/extended-properties" Target="/docProps/app.xml" Id="R0b712415bb6b42b4" /><Relationship Type="http://schemas.openxmlformats.org/officeDocument/2006/relationships/officeDocument" Target="/ppt/presentation.xml" Id="R2e447548b4e344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cc5dce07fe42ce"/>
  </p:sldMasterIdLst>
  <p:notesMasterIdLst>
    <p:notesMasterId xmlns:r="http://schemas.openxmlformats.org/officeDocument/2006/relationships" r:id="R7aab8bac3db74a3c"/>
  </p:notesMasterIdLst>
  <p:sldIdLst>
    <p:sldId xmlns:r="http://schemas.openxmlformats.org/officeDocument/2006/relationships" id="256" r:id="R5fddf66e0adf4247"/>
    <p:sldId xmlns:r="http://schemas.openxmlformats.org/officeDocument/2006/relationships" id="257" r:id="R311948460f23429e"/>
    <p:sldId xmlns:r="http://schemas.openxmlformats.org/officeDocument/2006/relationships" id="258" r:id="R8deb79fe6fbf4bca"/>
    <p:sldId xmlns:r="http://schemas.openxmlformats.org/officeDocument/2006/relationships" id="259" r:id="Rcb005d7cac79409b"/>
    <p:sldId xmlns:r="http://schemas.openxmlformats.org/officeDocument/2006/relationships" id="260" r:id="R94f4aa9dd9f3469c"/>
    <p:sldId xmlns:r="http://schemas.openxmlformats.org/officeDocument/2006/relationships" id="261" r:id="R08e6d08fdf524c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9890b809d44769" /><Relationship Type="http://schemas.openxmlformats.org/officeDocument/2006/relationships/slideMaster" Target="/ppt/slideMasters/slideMaster1.xml" Id="Rd3cc5dce07fe42ce" /><Relationship Type="http://schemas.openxmlformats.org/officeDocument/2006/relationships/notesMaster" Target="/ppt/notesMasters/notesMaster1.xml" Id="R7aab8bac3db74a3c" /><Relationship Type="http://schemas.openxmlformats.org/officeDocument/2006/relationships/presProps" Target="/ppt/presProps.xml" Id="R2c379eaac7db42dc" /><Relationship Type="http://schemas.openxmlformats.org/officeDocument/2006/relationships/tableStyles" Target="/ppt/tableStyles.xml" Id="R294774e97bd84521" /><Relationship Type="http://schemas.openxmlformats.org/officeDocument/2006/relationships/slide" Target="/ppt/slides/slide1.xml" Id="R5fddf66e0adf4247" /><Relationship Type="http://schemas.openxmlformats.org/officeDocument/2006/relationships/slide" Target="/ppt/slides/slide2.xml" Id="R311948460f23429e" /><Relationship Type="http://schemas.openxmlformats.org/officeDocument/2006/relationships/slide" Target="/ppt/slides/slide3.xml" Id="R8deb79fe6fbf4bca" /><Relationship Type="http://schemas.openxmlformats.org/officeDocument/2006/relationships/slide" Target="/ppt/slides/slide4.xml" Id="Rcb005d7cac79409b" /><Relationship Type="http://schemas.openxmlformats.org/officeDocument/2006/relationships/slide" Target="/ppt/slides/slide5.xml" Id="R94f4aa9dd9f3469c" /><Relationship Type="http://schemas.openxmlformats.org/officeDocument/2006/relationships/slide" Target="/ppt/slides/slide6.xml" Id="R08e6d08fdf524c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a0a3d851ff44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aa91bc0df5466f" /><Relationship Type="http://schemas.openxmlformats.org/officeDocument/2006/relationships/notesMaster" Target="/ppt/notesMasters/notesMaster1.xml" Id="R43e9e30006bb46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60a6fc8403428e" /><Relationship Type="http://schemas.openxmlformats.org/officeDocument/2006/relationships/notesMaster" Target="/ppt/notesMasters/notesMaster1.xml" Id="Rc266cb96f1b44b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1f03096d6f4949" /><Relationship Type="http://schemas.openxmlformats.org/officeDocument/2006/relationships/notesMaster" Target="/ppt/notesMasters/notesMaster1.xml" Id="R05f7c861f7c545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cd0a3cc47249b9" /><Relationship Type="http://schemas.openxmlformats.org/officeDocument/2006/relationships/notesMaster" Target="/ppt/notesMasters/notesMaster1.xml" Id="R6080a19cca3143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9be2fe36bd4783" /><Relationship Type="http://schemas.openxmlformats.org/officeDocument/2006/relationships/notesMaster" Target="/ppt/notesMasters/notesMaster1.xml" Id="Rd656405fa57348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0ac871723749c8" /><Relationship Type="http://schemas.openxmlformats.org/officeDocument/2006/relationships/notesMaster" Target="/ppt/notesMasters/notesMaster1.xml" Id="Ra19015cf318047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 Agent Assist is the primary use case. The other five have prototype implementations.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 Paid drafting has not been called. Local language/speech models are pretrained. No team training of an LLM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reports/classifier_evaluation.json; reports/speech_evaluation_small_en_100.json; reports/local_llm_evaluation.json; reports/benchmark_dev_evaluation.json; reports/decision_safeguards.json; tmp/final_tests.log. Metrics describe supplied development samples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 These are discussion categories, not an official rubric or proposed point allocation. Organisers decide model eligibility, depth versus breadth and benchmark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73ac186d549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674172ab6c4b48" /><Relationship Type="http://schemas.openxmlformats.org/officeDocument/2006/relationships/slideLayout" Target="/ppt/slideLayouts/slideLayout1.xml" Id="R283be0a483054a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3be0a483054a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eb2920b6a4fbb" /><Relationship Type="http://schemas.openxmlformats.org/officeDocument/2006/relationships/notesSlide" Target="/ppt/notesSlides/notesSlide1.xml" Id="Ra5dcd269b37741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5b26665de4a6c" /><Relationship Type="http://schemas.openxmlformats.org/officeDocument/2006/relationships/notesSlide" Target="/ppt/notesSlides/notesSlide2.xml" Id="Rc395cb57e7794c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975087bab4a54" /><Relationship Type="http://schemas.openxmlformats.org/officeDocument/2006/relationships/notesSlide" Target="/ppt/notesSlides/notesSlide3.xml" Id="R5c5d722dad894a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642fd04c94866" /><Relationship Type="http://schemas.openxmlformats.org/officeDocument/2006/relationships/notesSlide" Target="/ppt/notesSlides/notesSlide4.xml" Id="Recd7d75d816d44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e4a084ae143e0" /><Relationship Type="http://schemas.openxmlformats.org/officeDocument/2006/relationships/notesSlide" Target="/ppt/notesSlides/notesSlide5.xml" Id="R4616875ebfe54f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c418c10344f88" /><Relationship Type="http://schemas.openxmlformats.org/officeDocument/2006/relationships/notesSlide" Target="/ppt/notesSlides/notesSlide6.xml" Id="Rd21569d5d58d46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B1B7F-7E33-43F3-A67E-1C543190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Collections Copilot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FCEAE-00F3-48EB-ABA5-B83158FF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Helping collections employees prepare a case and respond to customers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58E8B-39E2-41A4-8634-4641740B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 unified customer view, relevant policy and suggested assistance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A3956-D74C-4400-A95A-08F8D220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Team 5C2. Project overview for rubric discussion.</a:t>
            </a:r>
          </a:p>
        </p:txBody>
      </p:sp>
    </p:spTree>
    <p:extLst>
      <p:ext uri="{BB962C8B-B14F-4D97-AF65-F5344CB8AC3E}">
        <p14:creationId xmlns:p14="http://schemas.microsoft.com/office/powerpoint/2010/main" val="1163860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5164B-6CE3-4121-9DD6-59FEB469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Four connected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08475-5A12-4740-86FC-BEC53595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  Data foundation: match identities across five systems, validate records and build a customer C360 with explicit missingness.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E6DCB-35EC-4313-98F2-42E95C65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2  Questions: answer supported collections questions using trusted SQL, current policy or call evidence, with sources and refusals.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ECCBA-DAC8-443C-BC0B-71CEAA15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3  Features: serve 12 versioned case features with the same offline and online definitions, plus text signals.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9B750-1C2A-48B4-A93A-15A683A9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4  Employee assistance: suggest a response or next step, explain its evidence and record accept, edit or reject decisions.</a:t>
            </a:r>
          </a:p>
        </p:txBody>
      </p:sp>
    </p:spTree>
    <p:extLst>
      <p:ext uri="{BB962C8B-B14F-4D97-AF65-F5344CB8AC3E}">
        <p14:creationId xmlns:p14="http://schemas.microsoft.com/office/powerpoint/2010/main" val="1953318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04C99-7599-47A3-A626-3951956A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Six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FD152-883B-4DE2-883D-90693AA4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Agent Assist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04F6A-3B4F-44CA-9692-856C1396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Help during the conversation, including hardship, disputes and policy guidance.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3DC1E-90E5-417E-9724-63BC57A4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Next Best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4BA3F-60B8-4F9D-981A-DF8064EC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Propose the treatment or next step for the case, subject to holds and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538C3-4D76-4DF8-AA6A-7FB2A1AF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Channel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F3C48-6DAD-464D-BD7A-60CDEF68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Compare eligible channels using observed contact results and snapshot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147A2-E839-48B6-AAB1-F0C421E8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668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Agent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659FD-97A7-4A37-957E-77D9AEAA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Suggest active staff with the required language, relevant skills and capacity.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89545-A035-4EAD-B3A9-4D4CED48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Post-call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5C8D7-4607-486A-B073-F251C12F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Identify customer signal timestamps and draft a note for employee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400CD-E4B7-4847-BA11-BF85FEFD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96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Quality assurance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B3EDC-AEA0-44CF-A400-E04C9A90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1492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Show evidence for ten QA checklist items and flag possible issues for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31B6E-5F26-4703-A428-DFE1783A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388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Primary use case: Agent Assist. The other five currently have prototype depth.</a:t>
            </a:r>
          </a:p>
        </p:txBody>
      </p:sp>
    </p:spTree>
    <p:extLst>
      <p:ext uri="{BB962C8B-B14F-4D97-AF65-F5344CB8AC3E}">
        <p14:creationId xmlns:p14="http://schemas.microsoft.com/office/powerpoint/2010/main" val="2026007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94CB5-E257-4A2A-8501-8EA3BC03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AI and model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40894-BBAC-456F-976B-07BF4DAA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Team-trained model: a small text classifier trained on approved notes and customer transcript text to identify financial hardship.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C32C0-1B75-4038-A6C2-900B2648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Pretrained local models: Whisper transcribes audio. Qwen drafts narrow case summaries. Both run locally without paid API calls.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AB8C9-D2BF-48BC-8A33-0BE78993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Optional paid API: an adapter is implemented, but needs user credentials and cost approval. It remains untested.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8EF21-488C-4781-ABA8-55FF41CB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Controls: deterministic contact gates and employee review remain in place for every model approach.</a:t>
            </a:r>
          </a:p>
        </p:txBody>
      </p:sp>
    </p:spTree>
    <p:extLst>
      <p:ext uri="{BB962C8B-B14F-4D97-AF65-F5344CB8AC3E}">
        <p14:creationId xmlns:p14="http://schemas.microsoft.com/office/powerpoint/2010/main" val="2061882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65D01-31C5-4D74-9CBE-65B11E09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Current development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E6FBB-35B9-479A-9057-F65C1D40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27 automated tests pass. Safeguard checks cover 160 approved cases with no failures of the tested constraints.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21D6A-30B7-4950-8DF3-6312FB33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All 12 supplied numeric development benchmark checks pass. Policy and call answers still need independent semantic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FCC88-74E4-42A4-BE5D-5C8835D8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Hardship classifier: 98.63% precision and recall on 170 grouped development examples, after training on 697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2B6CA-472E-4424-9345-8284E1D1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Whisper small.en: 11.46% word error rate on 100 synthetic English recordings. Employees still verify speaker attribution.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65AE8-4B00-41A7-AAF3-8E78D8D6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Local Qwen: 10 drafts pass source, numeric and schema checks. Median latency is 7.46 seconds. These checks do not prove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FBFE1-424D-418D-8ADA-63AB56F4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Hidden-test results and preparation-time savings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1298804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E7893-7F36-4ACC-A223-19C651DE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Possible grading dimensions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03E52-B917-41A1-B350-CC9C0C82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Data correctness: matching quality, financial totals, quarantine, coverage and a reproducible C360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BE4ED-04F6-46E4-BC71-4B24D3C4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Question accuracy: benchmark tolerance, usable SQL or source evidence, policy applicability and correct refusals.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8B4E6-182B-487D-A4AE-CF6592A2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Model quality: separate training and evaluation, precision/recall, transcription error and factual draft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395C4-721A-4CF7-AE80-54CEC5E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Workflow quality: depth of the chosen use case, usability, response time and useful explanations.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7C0BB-1DF8-4E57-8A34-18A9EE55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Safeguards and reproducibility: consent, holds, privacy, employee control, executable code and honest limitations.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43DE0-3CA8-4907-BF47-A45C5F2B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Organiser decisions: paid APIs, pretrained models, use-case breadth and scoring weights.</a:t>
            </a:r>
          </a:p>
        </p:txBody>
      </p:sp>
    </p:spTree>
    <p:extLst>
      <p:ext uri="{BB962C8B-B14F-4D97-AF65-F5344CB8AC3E}">
        <p14:creationId xmlns:p14="http://schemas.microsoft.com/office/powerpoint/2010/main" val="912130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2026-10-03T22:56:12.7460000Z</dcterms:created>
  <dcterms:modified xsi:type="dcterms:W3CDTF">2026-10-03T22:56:12.7460000Z</dcterms:modified>
</coreProperties>
</file>